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71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63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78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64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22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77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68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179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90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05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14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AF2774-BBED-4CE8-96C4-ABBB78BBFE01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65D12B8-DF37-4942-9E1C-2FECB7DA152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35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AB7F-FA9C-377F-86A3-D925D44E9C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Palatino Linotype" panose="02040502050505030304" pitchFamily="18" charset="0"/>
              </a:rPr>
              <a:t>Infix to Postfix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22B78-196E-B7F7-375D-AE6CDDF543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Palatino Linotype" panose="02040502050505030304" pitchFamily="18" charset="0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555356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C00C69-C22E-1E42-5D7D-F8299A33AA71}"/>
              </a:ext>
            </a:extLst>
          </p:cNvPr>
          <p:cNvSpPr txBox="1"/>
          <p:nvPr/>
        </p:nvSpPr>
        <p:spPr>
          <a:xfrm>
            <a:off x="403123" y="68826"/>
            <a:ext cx="11661058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Palatino Linotype" panose="02040502050505030304" pitchFamily="18" charset="0"/>
              </a:rPr>
              <a:t>Scan the symbols of array infix from left to right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Palatino Linotype" panose="02040502050505030304" pitchFamily="18" charset="0"/>
              </a:rPr>
              <a:t>If symbol is an operand 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		Add it to array postfix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IN" sz="2400" dirty="0">
                <a:latin typeface="Palatino Linotype" panose="02040502050505030304" pitchFamily="18" charset="0"/>
              </a:rPr>
              <a:t>If symbol is left parenthesis ‘(‘    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		Push it on the stack</a:t>
            </a:r>
          </a:p>
          <a:p>
            <a:pPr marL="342900" indent="-342900">
              <a:buAutoNum type="arabicPlain" startAt="4"/>
            </a:pPr>
            <a:r>
              <a:rPr lang="en-IN" sz="2400" dirty="0">
                <a:latin typeface="Palatino Linotype" panose="02040502050505030304" pitchFamily="18" charset="0"/>
              </a:rPr>
              <a:t>If symbol is right parenthesis ‘)’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		Pop all the operators from stack up to the first left parenthesis and add these 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		operators to array postfix.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		Discard both left and right parenthesis.</a:t>
            </a:r>
          </a:p>
          <a:p>
            <a:pPr marL="342900" indent="-342900">
              <a:buAutoNum type="arabicPeriod" startAt="5"/>
            </a:pPr>
            <a:r>
              <a:rPr lang="en-IN" sz="2400" dirty="0">
                <a:latin typeface="Palatino Linotype" panose="02040502050505030304" pitchFamily="18" charset="0"/>
              </a:rPr>
              <a:t>If symbol is operator</a:t>
            </a:r>
          </a:p>
          <a:p>
            <a:pPr lvl="2"/>
            <a:r>
              <a:rPr lang="en-IN" sz="2400" dirty="0">
                <a:latin typeface="Palatino Linotype" panose="02040502050505030304" pitchFamily="18" charset="0"/>
              </a:rPr>
              <a:t>Pop the operator which have precedence greater than or equal to the precedence of the symbol operator,  and add these popped operators to array postfix.</a:t>
            </a:r>
          </a:p>
          <a:p>
            <a:pPr lvl="2"/>
            <a:r>
              <a:rPr lang="en-IN" sz="2400" dirty="0">
                <a:latin typeface="Palatino Linotype" panose="02040502050505030304" pitchFamily="18" charset="0"/>
              </a:rPr>
              <a:t>Push the scanned symbol operator on the stack. ( remember that left parenthesis has least precedence.)</a:t>
            </a:r>
          </a:p>
          <a:p>
            <a:pPr marL="342900" indent="-342900">
              <a:buAutoNum type="arabicPeriod" startAt="6"/>
            </a:pPr>
            <a:r>
              <a:rPr lang="en-IN" sz="2400" dirty="0">
                <a:latin typeface="Palatino Linotype" panose="02040502050505030304" pitchFamily="18" charset="0"/>
              </a:rPr>
              <a:t>After all the symbols of array infix have been scanned, pop all the operators on the stack and add them to the array.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38E9C5-E481-3D6D-6FD7-5B3E3D8B2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525665"/>
              </p:ext>
            </p:extLst>
          </p:nvPr>
        </p:nvGraphicFramePr>
        <p:xfrm>
          <a:off x="8917857" y="490876"/>
          <a:ext cx="28710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510">
                  <a:extLst>
                    <a:ext uri="{9D8B030D-6E8A-4147-A177-3AD203B41FA5}">
                      <a16:colId xmlns:a16="http://schemas.microsoft.com/office/drawing/2014/main" val="4135190330"/>
                    </a:ext>
                  </a:extLst>
                </a:gridCol>
                <a:gridCol w="1435510">
                  <a:extLst>
                    <a:ext uri="{9D8B030D-6E8A-4147-A177-3AD203B41FA5}">
                      <a16:colId xmlns:a16="http://schemas.microsoft.com/office/drawing/2014/main" val="3535303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33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58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*         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898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+         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57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0512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78E2EE-DF86-F93F-6171-B983E960AC49}"/>
              </a:ext>
            </a:extLst>
          </p:cNvPr>
          <p:cNvSpPr txBox="1"/>
          <p:nvPr/>
        </p:nvSpPr>
        <p:spPr>
          <a:xfrm>
            <a:off x="9334883" y="141200"/>
            <a:ext cx="2036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Priority Table</a:t>
            </a:r>
          </a:p>
        </p:txBody>
      </p:sp>
    </p:spTree>
    <p:extLst>
      <p:ext uri="{BB962C8B-B14F-4D97-AF65-F5344CB8AC3E}">
        <p14:creationId xmlns:p14="http://schemas.microsoft.com/office/powerpoint/2010/main" val="102314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8167CD-3F6F-FA57-D7C7-2CB8099D9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476239"/>
              </p:ext>
            </p:extLst>
          </p:nvPr>
        </p:nvGraphicFramePr>
        <p:xfrm>
          <a:off x="619432" y="589484"/>
          <a:ext cx="10697498" cy="5648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47020">
                  <a:extLst>
                    <a:ext uri="{9D8B030D-6E8A-4147-A177-3AD203B41FA5}">
                      <a16:colId xmlns:a16="http://schemas.microsoft.com/office/drawing/2014/main" val="3501718020"/>
                    </a:ext>
                  </a:extLst>
                </a:gridCol>
                <a:gridCol w="5781367">
                  <a:extLst>
                    <a:ext uri="{9D8B030D-6E8A-4147-A177-3AD203B41FA5}">
                      <a16:colId xmlns:a16="http://schemas.microsoft.com/office/drawing/2014/main" val="1922350280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1442411922"/>
                    </a:ext>
                  </a:extLst>
                </a:gridCol>
                <a:gridCol w="2153265">
                  <a:extLst>
                    <a:ext uri="{9D8B030D-6E8A-4147-A177-3AD203B41FA5}">
                      <a16:colId xmlns:a16="http://schemas.microsoft.com/office/drawing/2014/main" val="1158737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4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Add A to 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31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 on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5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Add B to 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05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 on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10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Add C to 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67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/ and add it to postfix and then push * on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440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 on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*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76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Add D to 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*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 on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* (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6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Add E to 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* ( +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22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+ and add to 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ABC/DE+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89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* and +, add them to postfix and then push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ABC/DE+*+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34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Add F to 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ABC/DE+*+F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9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– and add to postfix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ABC/DE+*+F-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325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DD9635-4F99-1B6D-8CDA-A266D224B37A}"/>
              </a:ext>
            </a:extLst>
          </p:cNvPr>
          <p:cNvSpPr txBox="1"/>
          <p:nvPr/>
        </p:nvSpPr>
        <p:spPr>
          <a:xfrm>
            <a:off x="589935" y="127819"/>
            <a:ext cx="5603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Infix to Postfix :  A + B / C * (D + E) - F    </a:t>
            </a:r>
          </a:p>
        </p:txBody>
      </p:sp>
    </p:spTree>
    <p:extLst>
      <p:ext uri="{BB962C8B-B14F-4D97-AF65-F5344CB8AC3E}">
        <p14:creationId xmlns:p14="http://schemas.microsoft.com/office/powerpoint/2010/main" val="20467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677B-BB17-6A27-FBE3-6915DDAEB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3E95C8-45FA-2DDE-7CBC-E79DA0265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886893"/>
              </p:ext>
            </p:extLst>
          </p:nvPr>
        </p:nvGraphicFramePr>
        <p:xfrm>
          <a:off x="619432" y="589484"/>
          <a:ext cx="4306529" cy="5648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6852">
                  <a:extLst>
                    <a:ext uri="{9D8B030D-6E8A-4147-A177-3AD203B41FA5}">
                      <a16:colId xmlns:a16="http://schemas.microsoft.com/office/drawing/2014/main" val="3501718020"/>
                    </a:ext>
                  </a:extLst>
                </a:gridCol>
                <a:gridCol w="1140542">
                  <a:extLst>
                    <a:ext uri="{9D8B030D-6E8A-4147-A177-3AD203B41FA5}">
                      <a16:colId xmlns:a16="http://schemas.microsoft.com/office/drawing/2014/main" val="1442411922"/>
                    </a:ext>
                  </a:extLst>
                </a:gridCol>
                <a:gridCol w="1809135">
                  <a:extLst>
                    <a:ext uri="{9D8B030D-6E8A-4147-A177-3AD203B41FA5}">
                      <a16:colId xmlns:a16="http://schemas.microsoft.com/office/drawing/2014/main" val="1158737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4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31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5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05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AB^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10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AB^C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67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AB^C*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440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/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AB^C*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76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/ 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AB^C*D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/ (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AB^C*D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6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/ (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AB^C*DE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22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/ (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AB^C*DE*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89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/ (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AB^C*DE*F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34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AB^C*DE*F-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9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AB^C*DE*F-/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325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4C83911-4687-9696-63BD-F2D95B6912AB}"/>
              </a:ext>
            </a:extLst>
          </p:cNvPr>
          <p:cNvSpPr txBox="1"/>
          <p:nvPr/>
        </p:nvSpPr>
        <p:spPr>
          <a:xfrm>
            <a:off x="589935" y="127819"/>
            <a:ext cx="5261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Infix to Postfix :  A ^ B * C / (D * E – F)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80E11-86DD-75CB-EAAC-D8D41CFC5A0D}"/>
              </a:ext>
            </a:extLst>
          </p:cNvPr>
          <p:cNvSpPr txBox="1"/>
          <p:nvPr/>
        </p:nvSpPr>
        <p:spPr>
          <a:xfrm>
            <a:off x="6096000" y="132735"/>
            <a:ext cx="5630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Infix to Postfix :  A – B / C ^ D * E + F / 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CAAB8B-D2EC-B003-915C-BD923E79B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735127"/>
              </p:ext>
            </p:extLst>
          </p:nvPr>
        </p:nvGraphicFramePr>
        <p:xfrm>
          <a:off x="6336889" y="604520"/>
          <a:ext cx="4753897" cy="5648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7804">
                  <a:extLst>
                    <a:ext uri="{9D8B030D-6E8A-4147-A177-3AD203B41FA5}">
                      <a16:colId xmlns:a16="http://schemas.microsoft.com/office/drawing/2014/main" val="3501718020"/>
                    </a:ext>
                  </a:extLst>
                </a:gridCol>
                <a:gridCol w="1259023">
                  <a:extLst>
                    <a:ext uri="{9D8B030D-6E8A-4147-A177-3AD203B41FA5}">
                      <a16:colId xmlns:a16="http://schemas.microsoft.com/office/drawing/2014/main" val="1442411922"/>
                    </a:ext>
                  </a:extLst>
                </a:gridCol>
                <a:gridCol w="1997070">
                  <a:extLst>
                    <a:ext uri="{9D8B030D-6E8A-4147-A177-3AD203B41FA5}">
                      <a16:colId xmlns:a16="http://schemas.microsoft.com/office/drawing/2014/main" val="1158737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4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31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5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05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 /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10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67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 / 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440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ABCD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76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ABCD^/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-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ABCD^/E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6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ABCD^/E*-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22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ABCD^/E*-F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89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+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ABCD^/E*-F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34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ABCD^/E*-FG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9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ABCD^/E*-FG/+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32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9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8841E-8B07-BA6F-B033-E1F72FA7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C22148-3B24-11C7-9CEB-9322487972B7}"/>
              </a:ext>
            </a:extLst>
          </p:cNvPr>
          <p:cNvSpPr txBox="1"/>
          <p:nvPr/>
        </p:nvSpPr>
        <p:spPr>
          <a:xfrm>
            <a:off x="432619" y="1691149"/>
            <a:ext cx="116610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Scan the symbols of array postfix from left to right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If symbol is an operand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		Push it on the stack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3.  If symbol is operator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Pop two elements from stack and apply the operator on these two elements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dirty="0">
                <a:solidFill>
                  <a:srgbClr val="000000"/>
                </a:solidFill>
                <a:latin typeface="Palatino Linotype" panose="02040502050505030304" pitchFamily="18" charset="0"/>
              </a:rPr>
              <a:t>Push the result back to stack</a:t>
            </a:r>
            <a:endParaRPr lang="en-IN" dirty="0">
              <a:solidFill>
                <a:srgbClr val="000000"/>
              </a:solidFill>
              <a:latin typeface="Calibri" panose="020F0502020204030204"/>
            </a:endParaRPr>
          </a:p>
          <a:p>
            <a:r>
              <a:rPr lang="en-IN" sz="2400" dirty="0">
                <a:solidFill>
                  <a:srgbClr val="000000"/>
                </a:solidFill>
                <a:latin typeface="Palatino Linotype" panose="02040502050505030304" pitchFamily="18" charset="0"/>
              </a:rPr>
              <a:t>4. After the symbols of postfix have been scanned, pop the only element left in the stack and it is the final result.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02FDC-F259-FBD2-1BF2-39AE2ADE7D4A}"/>
              </a:ext>
            </a:extLst>
          </p:cNvPr>
          <p:cNvSpPr txBox="1"/>
          <p:nvPr/>
        </p:nvSpPr>
        <p:spPr>
          <a:xfrm>
            <a:off x="432619" y="658761"/>
            <a:ext cx="5463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Palatino Linotype" panose="02040502050505030304" pitchFamily="18" charset="0"/>
              </a:rPr>
              <a:t>Evaluation of postfix expression</a:t>
            </a:r>
          </a:p>
        </p:txBody>
      </p:sp>
    </p:spTree>
    <p:extLst>
      <p:ext uri="{BB962C8B-B14F-4D97-AF65-F5344CB8AC3E}">
        <p14:creationId xmlns:p14="http://schemas.microsoft.com/office/powerpoint/2010/main" val="3576971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5157-D199-24F9-E087-7EAB7CC0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29D4D5-9147-9C3B-46F1-5E2371532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004130"/>
              </p:ext>
            </p:extLst>
          </p:nvPr>
        </p:nvGraphicFramePr>
        <p:xfrm>
          <a:off x="255638" y="604520"/>
          <a:ext cx="5840362" cy="5648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7858">
                  <a:extLst>
                    <a:ext uri="{9D8B030D-6E8A-4147-A177-3AD203B41FA5}">
                      <a16:colId xmlns:a16="http://schemas.microsoft.com/office/drawing/2014/main" val="3501718020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1442411922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1158737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4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31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7 3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5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7 5 3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05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7 5 3 2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10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2 and 3, push 3 ^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7 5 9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67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9 and 5, push 5 *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7 45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440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7 45 9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76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7 45 9 2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7 45 9 2 2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6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Pop 2 and 2, push 2 ^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7 45 9 4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22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4 and 9, push 9 – 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7 45 5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89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5 and 45, push 45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7 9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34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9 and 7, push 7 + 9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9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</a:rPr>
                        <a:t>16 6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7325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432D985-8B70-23A1-B674-49C954E8F037}"/>
              </a:ext>
            </a:extLst>
          </p:cNvPr>
          <p:cNvSpPr txBox="1"/>
          <p:nvPr/>
        </p:nvSpPr>
        <p:spPr>
          <a:xfrm>
            <a:off x="589935" y="127819"/>
            <a:ext cx="3964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Postfix :  7532^*922^-/+64*+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8F5A5A-3EF9-AF44-F7B3-B36A23C4A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41483"/>
              </p:ext>
            </p:extLst>
          </p:nvPr>
        </p:nvGraphicFramePr>
        <p:xfrm>
          <a:off x="6248401" y="589484"/>
          <a:ext cx="5840362" cy="1940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97858">
                  <a:extLst>
                    <a:ext uri="{9D8B030D-6E8A-4147-A177-3AD203B41FA5}">
                      <a16:colId xmlns:a16="http://schemas.microsoft.com/office/drawing/2014/main" val="3501718020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1442411922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1158737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4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16 6 4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31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4 and 6, push 6 *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16 24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5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24 and 16, push 16 + 24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05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Palatino Linotype" panose="02040502050505030304" pitchFamily="18" charset="0"/>
                        </a:rPr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Palatino Linotype" panose="02040502050505030304" pitchFamily="18" charset="0"/>
                        </a:rPr>
                        <a:t>Pop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101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0919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</TotalTime>
  <Words>790</Words>
  <Application>Microsoft Office PowerPoint</Application>
  <PresentationFormat>Widescreen</PresentationFormat>
  <Paragraphs>247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Palatino Linotype</vt:lpstr>
      <vt:lpstr>Retrospect</vt:lpstr>
      <vt:lpstr>Infix to Postfix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Janhavi Deo</dc:creator>
  <cp:lastModifiedBy>Janhavi Deo</cp:lastModifiedBy>
  <cp:revision>2</cp:revision>
  <dcterms:created xsi:type="dcterms:W3CDTF">2025-01-02T16:59:26Z</dcterms:created>
  <dcterms:modified xsi:type="dcterms:W3CDTF">2025-01-02T18:09:51Z</dcterms:modified>
</cp:coreProperties>
</file>